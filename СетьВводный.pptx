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8" r:id="rId4"/>
    <p:sldId id="259" r:id="rId5"/>
    <p:sldId id="260" r:id="rId6"/>
    <p:sldId id="261" r:id="rId7"/>
    <p:sldId id="263" r:id="rId8"/>
    <p:sldId id="264" r:id="rId9"/>
    <p:sldId id="257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26"/>
  </p:normalViewPr>
  <p:slideViewPr>
    <p:cSldViewPr snapToGrid="0">
      <p:cViewPr varScale="1">
        <p:scale>
          <a:sx n="81" d="100"/>
          <a:sy n="81" d="100"/>
        </p:scale>
        <p:origin x="8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7:05:26.9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1,'220'0,"3"0,-42 0,-47 0,8 0,1 0,9 0,59 0,5 0,-41 0,-3 0,20 0,-3 0,-32 0,-4 0,-1 0,1 0,4 0,-1 0,-3 0,4 0,45-1,-3 2,65 7,-66-3,0 0,49 5,-92-5,4-1,-3-4,-1 0,-6 0,0 0,0 0,0 0,0 0,0 0,-1 0,2 0,9 0,1 0,2 0,1 0,1 0,0 0,1 0,-2 0,-7 0,-2 0,-1 0,-2 0,-3 0,-3 0,-11 0,-1 0,127 0,-125 1,2 2,4 1,1 1,6 0,1 0,-4-1,-1 0,0-2,-1-1,-1-1,0 0,1 0,1 0,13 3,2 1,3 1,1 1,6 2,0 2,0-1,-2 1,-11-1,2 2,33 6,-5 1,69 5,-94-2,-8 0,15 5,52 7,-16 0,16-7,-13-2,-11-1,0 4,-4 8,-4-1,-9-3,-12-7,-4-4,-6-4,0 0,1 0,-7-1,-5-4,-7-3,-10-5,-4-3,-6 0,-6 0,9 0,1 0,4 0,1 0,4 0,25 0,21 0,45 0,-58 0,46 0,-59 0,80 0,-11 0,-3 0,-20 0,-22 0,17 0,-2 0,-1 0,-20 0,-7 0,-1 0,10 0,12 0,20 0,4 0,-5 0,12 0,14 0,15 0,11 0,-12 0,-34 0,-1 0,47 0,-89 0,87 0,-111 0,32 0,-21 0,-12 0,-9 0,-9 0,7 0,13 0,14 0,18-3,11-6,-8-1,8-3,2 0,-2 1,-1-4,-13-1,-16 2,-16 3,-11 0,-16 2,-12 2,-13 1,-6 0,-5 0,0 0,3 1,1 5,20 1,-39 0,40 0,-63 0,44 0,-23-6,11-2,-3 1,-6 1,4 6,0-2,-3-3,0-2,-13 1,-1 2,-2 4,-2 0,0 0,-3 0,-2-2,14-7,-8 5,10-4,-15 8,-5 0,18 0,-9 0,13-5,-17-1,2 0,-1 1,15-1,-14 0,2-1,2 2,-20 5,26 0,-14 0,3 0,13 0,-5 0,20 0,30 0,33 0,12 0,-14 0,-39 0,-40 0,-15 0,4 0,2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1BED7-1837-AB5C-4BA3-2BC823CA4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CBB0B1-9995-850F-42BF-D9F7E36CB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B5718D-4180-EBB4-C444-B2B7EE384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794B9A-82B8-2798-7507-C230C80AC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17A038-C49E-881E-BC24-0ED3BE3D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2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B4BB6-15B6-0629-E07C-22CED448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E60B4-548B-723D-06FF-7EF0E1958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B37394-4462-B563-3365-50E1DBFB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BCB206-4BBB-3B90-F19D-13420110F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0BE047-8479-7BDF-F486-0DF64E66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19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9A05AA-BC54-0FBA-2CEB-90544B47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506E16-92CA-6F73-D525-821624031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047527-C4AA-CD98-A6F2-576C6AF1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1DDDF-6513-369A-B281-04A36705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990C8-4777-F298-4D18-6F057B73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26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141EF-C504-E7F4-05A5-3A0557C9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BEAD76-4125-37E9-ED48-0A614127E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F819E5-4C3B-C043-5A07-FD4213571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5871F0-F2E7-3276-8C18-C71419678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5A052B-E326-DF1B-A892-4FF3495B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676717-77C5-8DDB-8477-539EA35BE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476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6F048-7645-6D90-6036-2CD97A33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71DF57-D37F-FCF9-F26F-F5344B1C4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A7955-40AA-9191-ACBF-9B17CE0D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653B81-4347-46EC-F7EA-D7D1511C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2B794C9-8C7A-19A1-16A9-7945C954F5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A2B033B-F26F-F1D3-3449-DBDEA5D9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A92622C-1337-3737-6F14-26BB58D1B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E9BE4E-1304-81DA-92A7-1F8DF714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80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2334A-A48A-CAF8-0A22-FDC650C5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0BAD84-04FD-32AF-BA4E-519F4B36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10DADF-757D-8229-B27D-48B6FE5E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4A4BAA-949C-A957-2B2E-9CC573D60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44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DCE9B76-C94A-7132-F232-2AB62ADF3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C25970-A7FE-B961-B491-8C617882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DC4322-EF89-0A48-D203-862F7039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38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442D0-FF84-A878-14A4-9E2773B1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2719DF-FD5F-2F6A-8296-4DA0BD8FF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5ABC26-2C16-7F72-44E4-EFDE0436F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D5AC07-0BEA-4796-6AAC-8020D70B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168F60-1FB6-B94C-CDD5-FDFD84C3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DAF794-1B23-6AFE-6B0E-8B109A8C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19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A784F-D712-4974-4EE3-1A9A857B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77AECC5-DBF9-C53E-F317-6144C1893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5C5DAA-65C5-59E1-495A-A23406A91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F0580D-72FB-36ED-579E-58E437DA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3A9A19-D0B5-CE1B-975F-3957070D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217A5E-C296-252D-5F35-B93D8879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451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34732-1B1B-935C-0D16-74318E1F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FE4F960-1167-1B9E-F1C6-8CFDEC4D4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6FC567-AEFE-5657-76F7-F4842692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90330D-99B6-8091-FA85-6CAFAB93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261C83-7EF0-4181-97AC-14E63258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2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8ED7F5-73C8-0519-5375-E28C621A4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099141-948A-EBB0-78D9-4AC5FC3F2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4077B1-45D3-5C73-F6F7-BB3D42E8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9153A6-E636-C290-4494-D28C4E3C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43FEB-26A5-A056-088B-D6484C2F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33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AB6E-9189-C926-8EF3-8ED10C6B9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E3B614-6A66-95C8-ECE7-E08CA868F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50072F-ADC9-0FF0-0922-921067296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7AC11-E0D8-ED41-AB40-AC83DCD043A2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DF5D2F-8159-A815-4018-110F1363C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EBBE3E-2B8A-9C2B-174F-5EBB20B9E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F8B1B-BA58-7E4C-9FB7-4E5FD03AED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796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msk.rt.ru/checku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CF292-0F40-72BC-1B33-780407856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Сеть</a:t>
            </a:r>
            <a:r>
              <a:rPr lang="en-US" dirty="0"/>
              <a:t>. </a:t>
            </a:r>
            <a:r>
              <a:rPr lang="ru-RU" dirty="0"/>
              <a:t>Интернет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628ECA-95AB-7508-F6DB-A012901B3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35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EE56C-BB67-736D-A579-321710F5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Цифровая грамотность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B58B85-237D-BA4F-C48B-27241FE92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98448"/>
            <a:ext cx="12192000" cy="555955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До распространения Интернета во главе угла стояла компьютерная грамотность – понимание того</a:t>
            </a:r>
            <a:r>
              <a:rPr lang="en-US" dirty="0"/>
              <a:t>, </a:t>
            </a:r>
            <a:r>
              <a:rPr lang="ru-RU" dirty="0"/>
              <a:t>как решать задачи с помощью компьютера (умение пользоваться компьютером):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- Люди</a:t>
            </a:r>
            <a:r>
              <a:rPr lang="en-US" dirty="0"/>
              <a:t>,</a:t>
            </a:r>
            <a:r>
              <a:rPr lang="ru-RU" dirty="0"/>
              <a:t> пользующиеся мышью</a:t>
            </a:r>
            <a:r>
              <a:rPr lang="en-US" dirty="0"/>
              <a:t>, </a:t>
            </a:r>
            <a:r>
              <a:rPr lang="en-US" dirty="0" err="1"/>
              <a:t>м</a:t>
            </a:r>
            <a:r>
              <a:rPr lang="ru-RU" dirty="0" err="1"/>
              <a:t>огут</a:t>
            </a:r>
            <a:r>
              <a:rPr lang="ru-RU" dirty="0"/>
              <a:t> испытывать проблемы с сенсорным экраном</a:t>
            </a:r>
            <a:r>
              <a:rPr lang="en-US" dirty="0"/>
              <a:t>, </a:t>
            </a:r>
            <a:r>
              <a:rPr lang="ru-RU" dirty="0"/>
              <a:t>и наоборот</a:t>
            </a:r>
          </a:p>
          <a:p>
            <a:pPr marL="0" indent="0">
              <a:buNone/>
            </a:pPr>
            <a:r>
              <a:rPr lang="ru-RU" dirty="0"/>
              <a:t>- Люди</a:t>
            </a:r>
            <a:r>
              <a:rPr lang="en-US" dirty="0"/>
              <a:t>, </a:t>
            </a:r>
            <a:r>
              <a:rPr lang="ru-RU" dirty="0"/>
              <a:t>привыкшие к </a:t>
            </a:r>
            <a:r>
              <a:rPr lang="en-US" dirty="0"/>
              <a:t>windows, </a:t>
            </a:r>
            <a:r>
              <a:rPr lang="ru-RU" dirty="0"/>
              <a:t>могут испытывать проблемы при переходе на </a:t>
            </a:r>
            <a:r>
              <a:rPr lang="en-US" dirty="0" err="1"/>
              <a:t>unix</a:t>
            </a:r>
            <a:r>
              <a:rPr lang="en-US" dirty="0"/>
              <a:t>/</a:t>
            </a:r>
            <a:r>
              <a:rPr lang="en-US" dirty="0" err="1"/>
              <a:t>linux</a:t>
            </a:r>
            <a:endParaRPr lang="ru-RU" dirty="0"/>
          </a:p>
          <a:p>
            <a:r>
              <a:rPr lang="ru-RU" dirty="0"/>
              <a:t>Цифровая грамотность – умение оптимально использовать всемирную паутину</a:t>
            </a:r>
            <a:r>
              <a:rPr lang="en-US" dirty="0"/>
              <a:t>: </a:t>
            </a:r>
            <a:r>
              <a:rPr lang="ru-RU" dirty="0"/>
              <a:t>искать достоверную информацию в сети и ответственно ее использовать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ru-RU" dirty="0"/>
              <a:t>поиск (умение искать данные и ориентироваться в них)</a:t>
            </a:r>
          </a:p>
          <a:p>
            <a:pPr marL="0" indent="0">
              <a:buNone/>
            </a:pPr>
            <a:r>
              <a:rPr lang="ru-RU" dirty="0"/>
              <a:t>- использование (доступной информации много</a:t>
            </a:r>
            <a:r>
              <a:rPr lang="en-US" dirty="0"/>
              <a:t>, </a:t>
            </a:r>
            <a:r>
              <a:rPr lang="ru-RU" dirty="0"/>
              <a:t>но не все данные важны</a:t>
            </a:r>
            <a:r>
              <a:rPr lang="en-US" dirty="0"/>
              <a:t>, </a:t>
            </a:r>
            <a:r>
              <a:rPr lang="ru-RU" dirty="0"/>
              <a:t>точны или актуальны</a:t>
            </a:r>
            <a:r>
              <a:rPr lang="en-US" dirty="0"/>
              <a:t>. </a:t>
            </a:r>
            <a:r>
              <a:rPr lang="ru-RU" dirty="0"/>
              <a:t>Способность анализировать информацию (отделить факты от домыслов) – крайне важный компьютерный навык)</a:t>
            </a:r>
          </a:p>
          <a:p>
            <a:pPr marL="0" indent="0">
              <a:buNone/>
            </a:pPr>
            <a:r>
              <a:rPr lang="ru-RU" dirty="0"/>
              <a:t>- распространение Вами данных (выражение своих мыслей по некоторой теме</a:t>
            </a:r>
            <a:r>
              <a:rPr lang="en-US" dirty="0"/>
              <a:t>/</a:t>
            </a:r>
            <a:r>
              <a:rPr lang="ru-RU" dirty="0"/>
              <a:t>вопросу и публикация их в соцсетях</a:t>
            </a:r>
            <a:r>
              <a:rPr lang="en-US" dirty="0"/>
              <a:t> 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230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8CC8C-5E92-5108-73DD-BD5878AF2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610" y="4190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Интернет не равно Всемирная паутина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FB126DC-E057-6C81-59F1-2E2AB90723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463" y="1827007"/>
            <a:ext cx="435133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B123D-B094-FF73-86B5-27EC0004FB8C}"/>
              </a:ext>
            </a:extLst>
          </p:cNvPr>
          <p:cNvSpPr txBox="1"/>
          <p:nvPr/>
        </p:nvSpPr>
        <p:spPr>
          <a:xfrm>
            <a:off x="61619" y="1960172"/>
            <a:ext cx="1976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Обычный (поверхностный) </a:t>
            </a:r>
            <a:endParaRPr lang="en-US" dirty="0"/>
          </a:p>
          <a:p>
            <a:r>
              <a:rPr lang="ru-RU" dirty="0"/>
              <a:t>интернет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CE7C5-391B-3D62-EFA8-6053AFF22DCA}"/>
              </a:ext>
            </a:extLst>
          </p:cNvPr>
          <p:cNvSpPr txBox="1"/>
          <p:nvPr/>
        </p:nvSpPr>
        <p:spPr>
          <a:xfrm>
            <a:off x="61618" y="4084250"/>
            <a:ext cx="205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Глубокий интернет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687561-D37E-A5E8-8806-9CD293BD2C2D}"/>
              </a:ext>
            </a:extLst>
          </p:cNvPr>
          <p:cNvSpPr txBox="1"/>
          <p:nvPr/>
        </p:nvSpPr>
        <p:spPr>
          <a:xfrm>
            <a:off x="61618" y="5350142"/>
            <a:ext cx="131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Даркнет</a:t>
            </a:r>
            <a:endParaRPr lang="ru-R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A9527B59-094B-24AD-2840-95C0E91FD3C9}"/>
                  </a:ext>
                </a:extLst>
              </p14:cNvPr>
              <p14:cNvContentPartPr/>
              <p14:nvPr/>
            </p14:nvContentPartPr>
            <p14:xfrm>
              <a:off x="61618" y="4676476"/>
              <a:ext cx="11416977" cy="241102"/>
            </p14:xfrm>
          </p:contentPart>
        </mc:Choice>
        <mc:Fallback xmlns=""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A9527B59-094B-24AD-2840-95C0E91FD3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17" y="4568197"/>
                <a:ext cx="11524620" cy="4573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158DDB31-73E1-CF5B-8231-5BA4F687557D}"/>
              </a:ext>
            </a:extLst>
          </p:cNvPr>
          <p:cNvSpPr txBox="1"/>
          <p:nvPr/>
        </p:nvSpPr>
        <p:spPr>
          <a:xfrm>
            <a:off x="6507801" y="5160553"/>
            <a:ext cx="5503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Наиболее закрытая часть глобальной сети</a:t>
            </a:r>
            <a:r>
              <a:rPr lang="en-US" dirty="0"/>
              <a:t>, </a:t>
            </a:r>
            <a:r>
              <a:rPr lang="ru-RU" dirty="0"/>
              <a:t>построенная поверх обычного Интернет в целях анонимности</a:t>
            </a:r>
            <a:r>
              <a:rPr lang="en-US" dirty="0"/>
              <a:t>. </a:t>
            </a:r>
            <a:r>
              <a:rPr lang="ru-RU" dirty="0"/>
              <a:t>Для доступа нужны специальные браузеры-программы</a:t>
            </a:r>
            <a:r>
              <a:rPr lang="en-US" dirty="0"/>
              <a:t> </a:t>
            </a:r>
            <a:r>
              <a:rPr lang="ru-RU" b="0" i="0" dirty="0">
                <a:solidFill>
                  <a:srgbClr val="17181F"/>
                </a:solidFill>
                <a:effectLst/>
                <a:latin typeface="Inter var"/>
              </a:rPr>
              <a:t>(</a:t>
            </a:r>
            <a:r>
              <a:rPr lang="en-US" b="0" i="0" dirty="0">
                <a:solidFill>
                  <a:srgbClr val="17181F"/>
                </a:solidFill>
                <a:effectLst/>
                <a:latin typeface="Inter var"/>
              </a:rPr>
              <a:t>TOR - </a:t>
            </a:r>
            <a:r>
              <a:rPr lang="ru-RU" b="0" i="0" dirty="0">
                <a:solidFill>
                  <a:srgbClr val="17181F"/>
                </a:solidFill>
                <a:effectLst/>
                <a:latin typeface="Inter var"/>
              </a:rPr>
              <a:t>сокращенно от англ. </a:t>
            </a:r>
            <a:r>
              <a:rPr lang="en" b="0" i="0" dirty="0">
                <a:solidFill>
                  <a:srgbClr val="17181F"/>
                </a:solidFill>
                <a:effectLst/>
                <a:latin typeface="Inter var"/>
              </a:rPr>
              <a:t>The Onion Router, Freenet, </a:t>
            </a:r>
            <a:r>
              <a:rPr lang="en" i="0" dirty="0">
                <a:solidFill>
                  <a:srgbClr val="17181F"/>
                </a:solidFill>
                <a:effectLst/>
                <a:latin typeface="Inter var"/>
              </a:rPr>
              <a:t>I2P </a:t>
            </a:r>
            <a:r>
              <a:rPr lang="ru-RU" i="0" dirty="0">
                <a:solidFill>
                  <a:srgbClr val="17181F"/>
                </a:solidFill>
                <a:effectLst/>
                <a:latin typeface="Inter var"/>
              </a:rPr>
              <a:t> и </a:t>
            </a:r>
            <a:r>
              <a:rPr lang="ru-RU" i="0" dirty="0" err="1">
                <a:solidFill>
                  <a:srgbClr val="17181F"/>
                </a:solidFill>
                <a:effectLst/>
                <a:latin typeface="Inter var"/>
              </a:rPr>
              <a:t>пр</a:t>
            </a:r>
            <a:r>
              <a:rPr lang="en-US" i="0" dirty="0">
                <a:solidFill>
                  <a:srgbClr val="17181F"/>
                </a:solidFill>
                <a:effectLst/>
                <a:latin typeface="Inter var"/>
              </a:rPr>
              <a:t>.</a:t>
            </a:r>
            <a:r>
              <a:rPr lang="en" b="0" i="0" dirty="0">
                <a:solidFill>
                  <a:srgbClr val="17181F"/>
                </a:solidFill>
                <a:effectLst/>
                <a:latin typeface="Inter var"/>
              </a:rPr>
              <a:t>)</a:t>
            </a:r>
            <a:r>
              <a:rPr lang="ru-RU" dirty="0"/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5CE27-8391-BABF-C5F6-3ED0809DDC54}"/>
              </a:ext>
            </a:extLst>
          </p:cNvPr>
          <p:cNvSpPr txBox="1"/>
          <p:nvPr/>
        </p:nvSpPr>
        <p:spPr>
          <a:xfrm>
            <a:off x="6626457" y="987969"/>
            <a:ext cx="55655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Открытая мировая коммуникационная инфраструктура</a:t>
            </a:r>
            <a:r>
              <a:rPr lang="en-US" dirty="0"/>
              <a:t>, </a:t>
            </a:r>
            <a:r>
              <a:rPr lang="en-US" dirty="0" err="1"/>
              <a:t>с</a:t>
            </a:r>
            <a:r>
              <a:rPr lang="ru-RU" dirty="0" err="1"/>
              <a:t>остоящая</a:t>
            </a:r>
            <a:r>
              <a:rPr lang="ru-RU" dirty="0"/>
              <a:t>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</a:p>
          <a:p>
            <a:r>
              <a:rPr lang="ru-RU" dirty="0"/>
              <a:t>- оптоволокно (земляные или подводные работы)</a:t>
            </a:r>
          </a:p>
          <a:p>
            <a:r>
              <a:rPr lang="ru-RU" dirty="0"/>
              <a:t>- радиоволны (сотовая</a:t>
            </a:r>
            <a:r>
              <a:rPr lang="en-US" dirty="0"/>
              <a:t>/</a:t>
            </a:r>
            <a:r>
              <a:rPr lang="ru-RU" dirty="0"/>
              <a:t>мобильная связь (формат 3</a:t>
            </a:r>
            <a:r>
              <a:rPr lang="en-US" dirty="0"/>
              <a:t>G,4G,5G</a:t>
            </a:r>
            <a:r>
              <a:rPr lang="ru-RU" dirty="0"/>
              <a:t>),</a:t>
            </a:r>
            <a:r>
              <a:rPr lang="en-US" dirty="0"/>
              <a:t> wi-fi</a:t>
            </a:r>
            <a:r>
              <a:rPr lang="ru-RU" dirty="0"/>
              <a:t>)</a:t>
            </a:r>
            <a:r>
              <a:rPr lang="en-US" dirty="0"/>
              <a:t>, </a:t>
            </a:r>
            <a:r>
              <a:rPr lang="en-US" dirty="0" err="1"/>
              <a:t>п</a:t>
            </a:r>
            <a:r>
              <a:rPr lang="ru-RU" dirty="0" err="1"/>
              <a:t>ередаваемый</a:t>
            </a:r>
            <a:r>
              <a:rPr lang="ru-RU" dirty="0"/>
              <a:t> по </a:t>
            </a:r>
            <a:r>
              <a:rPr lang="en-US" dirty="0" err="1"/>
              <a:t>в</a:t>
            </a:r>
            <a:r>
              <a:rPr lang="ru-RU" dirty="0" err="1"/>
              <a:t>оздуху</a:t>
            </a:r>
            <a:r>
              <a:rPr lang="ru-RU" dirty="0"/>
              <a:t> с помощью спутника (</a:t>
            </a:r>
            <a:r>
              <a:rPr lang="en-US" dirty="0"/>
              <a:t>SpaceX, </a:t>
            </a:r>
            <a:r>
              <a:rPr lang="ru-RU" dirty="0"/>
              <a:t>МТС к 2030 году планирует прямое соединение спутника и смартфона)</a:t>
            </a:r>
            <a:r>
              <a:rPr lang="en-US" dirty="0"/>
              <a:t>, </a:t>
            </a:r>
            <a:r>
              <a:rPr lang="ru-RU" dirty="0"/>
              <a:t>но надо платить за связь</a:t>
            </a:r>
          </a:p>
          <a:p>
            <a:r>
              <a:rPr lang="ru-RU" dirty="0"/>
              <a:t>- </a:t>
            </a:r>
            <a:r>
              <a:rPr lang="ru-RU" dirty="0" err="1"/>
              <a:t>T</a:t>
            </a:r>
            <a:r>
              <a:rPr lang="en-US" dirty="0" err="1"/>
              <a:t>aara</a:t>
            </a:r>
            <a:r>
              <a:rPr lang="en-US" dirty="0"/>
              <a:t> </a:t>
            </a:r>
            <a:r>
              <a:rPr lang="ru-RU" dirty="0"/>
              <a:t>от </a:t>
            </a:r>
            <a:r>
              <a:rPr lang="en-US" dirty="0"/>
              <a:t>Google: </a:t>
            </a:r>
            <a:r>
              <a:rPr lang="ru-RU" dirty="0"/>
              <a:t>если прокладка оптоволокна нерентабельна</a:t>
            </a:r>
            <a:r>
              <a:rPr lang="en-US" dirty="0"/>
              <a:t>, </a:t>
            </a:r>
            <a:r>
              <a:rPr lang="ru-RU" dirty="0"/>
              <a:t>а за спутниковую связь не платят клиенты</a:t>
            </a:r>
            <a:r>
              <a:rPr lang="en-US" dirty="0"/>
              <a:t>, </a:t>
            </a:r>
            <a:r>
              <a:rPr lang="ru-RU" dirty="0"/>
              <a:t>то лазерные лучи (в Дронах для получения канала)</a:t>
            </a:r>
          </a:p>
        </p:txBody>
      </p:sp>
    </p:spTree>
    <p:extLst>
      <p:ext uri="{BB962C8B-B14F-4D97-AF65-F5344CB8AC3E}">
        <p14:creationId xmlns:p14="http://schemas.microsoft.com/office/powerpoint/2010/main" val="1026936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DEA6BD-F52F-F442-3549-7163EC31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Пропускная способность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50CDA9-067D-C739-CD01-97AC67575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3975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Важно не путать пропускную способность со скоростью интернета:</a:t>
            </a:r>
          </a:p>
          <a:p>
            <a:r>
              <a:rPr lang="ru-RU" dirty="0"/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</a:p>
          <a:p>
            <a:r>
              <a:rPr lang="ru-RU" dirty="0"/>
              <a:t>Скорость интернета — реальная передача данных, которую вы получаете в конкретный момент</a:t>
            </a:r>
            <a:r>
              <a:rPr lang="en" dirty="0"/>
              <a:t>. </a:t>
            </a:r>
            <a:r>
              <a:rPr lang="ru-RU" dirty="0"/>
              <a:t>Она всегда ниже пропускной способности из-за помех, расстояния, загруженности сети и других факторов.</a:t>
            </a:r>
          </a:p>
          <a:p>
            <a:r>
              <a:rPr lang="ru-RU" dirty="0"/>
              <a:t>Чем меньше пропускная способность,</a:t>
            </a:r>
            <a:r>
              <a:rPr lang="en-US" dirty="0"/>
              <a:t> </a:t>
            </a:r>
            <a:r>
              <a:rPr lang="ru-RU" dirty="0"/>
              <a:t>тем медленнее сеть</a:t>
            </a:r>
          </a:p>
          <a:p>
            <a:pPr marL="0" indent="0" algn="l">
              <a:buNone/>
            </a:pPr>
            <a:r>
              <a:rPr lang="ru-RU" dirty="0"/>
              <a:t>Оцените скорость Интернета на своем ПК - </a:t>
            </a:r>
            <a:r>
              <a:rPr lang="en" b="0" i="0" u="none" strike="noStrike" dirty="0">
                <a:solidFill>
                  <a:srgbClr val="BDC1C6"/>
                </a:solidFill>
                <a:effectLst/>
                <a:latin typeface="Arial" panose="020B0604020202020204" pitchFamily="34" charset="0"/>
                <a:hlinkClick r:id="rId2"/>
              </a:rPr>
              <a:t>https://msk.rt.ru › checkup</a:t>
            </a:r>
            <a:r>
              <a:rPr lang="ru-RU" b="0" i="0" u="none" strike="noStrike" dirty="0">
                <a:solidFill>
                  <a:srgbClr val="BDC1C6"/>
                </a:solidFill>
                <a:effectLst/>
                <a:latin typeface="Arial" panose="020B0604020202020204" pitchFamily="34" charset="0"/>
                <a:hlinkClick r:id="rId2"/>
              </a:rPr>
              <a:t> (сфотографируй значение скорости)</a:t>
            </a:r>
          </a:p>
          <a:p>
            <a:pPr marL="0" indent="0" algn="l">
              <a:buNone/>
            </a:pP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(Спроси у Квена: файл размером 1 Гб </a:t>
            </a:r>
            <a:r>
              <a:rPr lang="ru-RU" dirty="0">
                <a:solidFill>
                  <a:srgbClr val="99C3FF"/>
                </a:solidFill>
                <a:latin typeface="Arial" panose="020B0604020202020204" pitchFamily="34" charset="0"/>
                <a:hlinkClick r:id="rId2"/>
              </a:rPr>
              <a:t>будет скачиваться за какое время на скорости &lt;введи свое значение</a:t>
            </a:r>
            <a:r>
              <a:rPr lang="en-US" dirty="0">
                <a:solidFill>
                  <a:srgbClr val="99C3FF"/>
                </a:solidFill>
                <a:latin typeface="Arial" panose="020B0604020202020204" pitchFamily="34" charset="0"/>
                <a:hlinkClick r:id="rId2"/>
              </a:rPr>
              <a:t>&gt;?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)</a:t>
            </a:r>
          </a:p>
          <a:p>
            <a:pPr marL="0" indent="0" algn="l">
              <a:buNone/>
            </a:pP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(У смартфона нет провода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,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как в классе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у компьютеров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.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Спроси у квена про пропускную способность мобильной связи формата 3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G,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4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G,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 5</a:t>
            </a:r>
            <a:r>
              <a:rPr lang="en-US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G. </a:t>
            </a:r>
            <a:r>
              <a:rPr lang="ru-RU" b="0" i="0" u="none" strike="noStrike" dirty="0">
                <a:solidFill>
                  <a:srgbClr val="99C3FF"/>
                </a:solidFill>
                <a:effectLst/>
                <a:latin typeface="Arial" panose="020B0604020202020204" pitchFamily="34" charset="0"/>
                <a:hlinkClick r:id="rId2"/>
              </a:rPr>
              <a:t>Сфоткай скорости разных форматов)</a:t>
            </a:r>
            <a:endParaRPr lang="en" b="0" i="0" u="none" strike="noStrike" dirty="0">
              <a:solidFill>
                <a:srgbClr val="99C3FF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algn="l"/>
            <a:endParaRPr lang="en" b="0" i="0" dirty="0">
              <a:solidFill>
                <a:srgbClr val="E8E8E8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5023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58CDF-4D6D-13D4-FFFA-E478BA33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Облако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4C6F08-A3A6-3CC1-09F3-E6982C3F3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Стив Джобс (1955-2011</a:t>
            </a:r>
            <a:r>
              <a:rPr lang="en-US" dirty="0"/>
              <a:t>, </a:t>
            </a:r>
            <a:r>
              <a:rPr lang="en-US" dirty="0" err="1"/>
              <a:t>с</a:t>
            </a:r>
            <a:r>
              <a:rPr lang="ru-RU" dirty="0" err="1"/>
              <a:t>оучредитель</a:t>
            </a:r>
            <a:r>
              <a:rPr lang="ru-RU" dirty="0"/>
              <a:t> компании </a:t>
            </a:r>
            <a:r>
              <a:rPr lang="en-US" dirty="0"/>
              <a:t>Apple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ru-RU" dirty="0"/>
              <a:t>Мне не нужен жесткий диск</a:t>
            </a:r>
            <a:r>
              <a:rPr lang="en-US" dirty="0"/>
              <a:t>, </a:t>
            </a:r>
            <a:r>
              <a:rPr lang="ru-RU" dirty="0"/>
              <a:t>если быстрее подключиться к серверу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Давайте сравним скорости записи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ru-RU" dirty="0"/>
              <a:t>Спроси у </a:t>
            </a:r>
            <a:r>
              <a:rPr lang="ru-RU" dirty="0" err="1"/>
              <a:t>Квена</a:t>
            </a:r>
            <a:r>
              <a:rPr lang="ru-RU" dirty="0"/>
              <a:t> - Как узнать реальную скорость чтения/записи диска? Выполни инструкцию </a:t>
            </a:r>
            <a:r>
              <a:rPr lang="ru-RU" dirty="0" err="1"/>
              <a:t>квена</a:t>
            </a:r>
            <a:r>
              <a:rPr lang="ru-RU" dirty="0"/>
              <a:t> и сфотографируй значение величины скорости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Можем ли мы согласиться с утверждением Джобса?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631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72445-216A-F323-9179-64A84FB8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Стриминг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4E738-5359-799D-D717-D30430A5A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Рид </a:t>
            </a:r>
            <a:r>
              <a:rPr lang="ru-RU" dirty="0" err="1"/>
              <a:t>Хастингс</a:t>
            </a:r>
            <a:r>
              <a:rPr lang="ru-RU" dirty="0"/>
              <a:t> (род</a:t>
            </a:r>
            <a:r>
              <a:rPr lang="en-US" dirty="0"/>
              <a:t>. 1960, </a:t>
            </a:r>
            <a:r>
              <a:rPr lang="ru-RU" dirty="0"/>
              <a:t>соучредитель компании </a:t>
            </a:r>
            <a:r>
              <a:rPr lang="en-US" dirty="0"/>
              <a:t>Netflix): 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ru-RU" dirty="0"/>
              <a:t>В следующие 10 лет прирост [клиентов</a:t>
            </a:r>
            <a:r>
              <a:rPr lang="en-US" dirty="0"/>
              <a:t>]</a:t>
            </a:r>
            <a:r>
              <a:rPr lang="ru-RU" dirty="0"/>
              <a:t> будет идти за счет стриминга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История стриминга началась в 1910 году:</a:t>
            </a:r>
            <a:r>
              <a:rPr lang="en-US" dirty="0"/>
              <a:t> </a:t>
            </a:r>
            <a:r>
              <a:rPr lang="ru-RU" dirty="0"/>
              <a:t>Джордж Оуэн Сквайр в 1910 г</a:t>
            </a:r>
            <a:r>
              <a:rPr lang="en-US" dirty="0"/>
              <a:t>. </a:t>
            </a:r>
            <a:r>
              <a:rPr lang="ru-RU" dirty="0"/>
              <a:t>Изобрел способ передавать музыку по проводам (потом продавал музыку для лифтов за месячную плату)</a:t>
            </a:r>
          </a:p>
          <a:p>
            <a:r>
              <a:rPr lang="ru-RU" dirty="0"/>
              <a:t>Стриминг позволяет смотреть передачи в прямом эфире</a:t>
            </a:r>
          </a:p>
          <a:p>
            <a:r>
              <a:rPr lang="ru-RU" dirty="0"/>
              <a:t>Недостатки</a:t>
            </a:r>
            <a:r>
              <a:rPr lang="en-US" dirty="0"/>
              <a:t>: </a:t>
            </a:r>
            <a:r>
              <a:rPr lang="ru-RU" dirty="0"/>
              <a:t>быстрый и стабильный интернет</a:t>
            </a:r>
            <a:r>
              <a:rPr lang="en-US" dirty="0"/>
              <a:t>, </a:t>
            </a:r>
            <a:r>
              <a:rPr lang="ru-RU" dirty="0"/>
              <a:t>может стоить дорого из-за потребления сетевого трафика (это не пропускная способность! Спроси у </a:t>
            </a:r>
            <a:r>
              <a:rPr lang="ru-RU" dirty="0" err="1"/>
              <a:t>квена</a:t>
            </a:r>
            <a:r>
              <a:rPr lang="ru-RU" dirty="0"/>
              <a:t> про сетевой трафик – что это?)</a:t>
            </a:r>
          </a:p>
        </p:txBody>
      </p:sp>
    </p:spTree>
    <p:extLst>
      <p:ext uri="{BB962C8B-B14F-4D97-AF65-F5344CB8AC3E}">
        <p14:creationId xmlns:p14="http://schemas.microsoft.com/office/powerpoint/2010/main" val="1352520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86A7C-73C2-45DC-1EC5-9160E14F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Маршрутизация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5CF373-5033-52BF-2D62-0F47F45D6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4752"/>
            <a:ext cx="12192000" cy="54132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Узел сети – это любое устройство,</a:t>
            </a:r>
            <a:r>
              <a:rPr lang="en-US" dirty="0"/>
              <a:t> </a:t>
            </a:r>
            <a:r>
              <a:rPr lang="ru-RU" dirty="0"/>
              <a:t>посылающее или принимающее данные через сеть</a:t>
            </a:r>
          </a:p>
          <a:p>
            <a:r>
              <a:rPr lang="ru-RU" dirty="0"/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lang="en-US" dirty="0"/>
              <a:t> </a:t>
            </a:r>
            <a:r>
              <a:rPr lang="ru-RU" dirty="0"/>
              <a:t>сигнал идет от узла к узлу</a:t>
            </a:r>
            <a:r>
              <a:rPr lang="en-US" dirty="0"/>
              <a:t>, </a:t>
            </a:r>
            <a:r>
              <a:rPr lang="ru-RU" dirty="0"/>
              <a:t>пока не достигнет цели</a:t>
            </a:r>
          </a:p>
          <a:p>
            <a:r>
              <a:rPr lang="ru-RU" dirty="0"/>
              <a:t>В передающем узле данные ОБЯЗАТЕЛЬНО разбиваются на пакеты в связи с требованиями канала связи</a:t>
            </a:r>
            <a:r>
              <a:rPr lang="en-US" dirty="0"/>
              <a:t>, </a:t>
            </a:r>
            <a:r>
              <a:rPr lang="ru-RU" dirty="0"/>
              <a:t>например</a:t>
            </a:r>
            <a:r>
              <a:rPr lang="en-US" dirty="0"/>
              <a:t>, </a:t>
            </a:r>
            <a:r>
              <a:rPr lang="ru-RU" dirty="0"/>
              <a:t>чтобы БЫСТРО передать данные и потом БЫСТРО проверить на ошибки (для медных проводов – до 1500 байт</a:t>
            </a:r>
            <a:r>
              <a:rPr lang="en-US" dirty="0"/>
              <a:t>, </a:t>
            </a:r>
            <a:r>
              <a:rPr lang="ru-RU" dirty="0"/>
              <a:t>оптоволокно – до 9000 байт)</a:t>
            </a:r>
          </a:p>
          <a:p>
            <a:r>
              <a:rPr lang="ru-RU" dirty="0"/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lang="en-US" dirty="0"/>
              <a:t> </a:t>
            </a:r>
            <a:r>
              <a:rPr lang="ru-RU" dirty="0"/>
              <a:t>чтобы ВСЕ пакеты одного соединения двигались по одному маршруту (иначе,</a:t>
            </a:r>
            <a:r>
              <a:rPr lang="en-US" dirty="0"/>
              <a:t> </a:t>
            </a:r>
            <a:r>
              <a:rPr lang="ru-RU" dirty="0"/>
              <a:t>например</a:t>
            </a:r>
            <a:r>
              <a:rPr lang="en-US" dirty="0"/>
              <a:t>,</a:t>
            </a:r>
            <a:r>
              <a:rPr lang="ru-RU" dirty="0"/>
              <a:t> будет неправильный порядок</a:t>
            </a:r>
            <a:r>
              <a:rPr lang="en-US" dirty="0"/>
              <a:t> </a:t>
            </a:r>
            <a:r>
              <a:rPr lang="en-US" dirty="0" err="1"/>
              <a:t>п</a:t>
            </a:r>
            <a:r>
              <a:rPr lang="ru-RU" dirty="0" err="1"/>
              <a:t>акетов</a:t>
            </a:r>
            <a:r>
              <a:rPr lang="en-US" dirty="0"/>
              <a:t>,</a:t>
            </a:r>
            <a:r>
              <a:rPr lang="ru-RU" dirty="0"/>
              <a:t> что вызовет повторные передачи</a:t>
            </a:r>
            <a:r>
              <a:rPr lang="en-US" dirty="0"/>
              <a:t>, </a:t>
            </a:r>
            <a:r>
              <a:rPr lang="ru-RU" dirty="0"/>
              <a:t>а значит более низкую скорость)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459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B9542-632A-CB17-30C5-271A5CFE2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Маршрутизация в смартфон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AF719A-E67E-5AF3-A01A-E82BA9653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Спросить у </a:t>
            </a:r>
            <a:r>
              <a:rPr lang="ru-RU" dirty="0" err="1"/>
              <a:t>квена</a:t>
            </a:r>
            <a:r>
              <a:rPr lang="ru-RU" dirty="0"/>
              <a:t> – </a:t>
            </a:r>
            <a:r>
              <a:rPr lang="en-US" dirty="0"/>
              <a:t>sim-</a:t>
            </a:r>
            <a:r>
              <a:rPr lang="ru-RU" dirty="0"/>
              <a:t>карта сама может ли передавать и принимать данные по сети? Если нет</a:t>
            </a:r>
            <a:r>
              <a:rPr lang="en-US" dirty="0"/>
              <a:t>, </a:t>
            </a:r>
            <a:r>
              <a:rPr lang="ru-RU" dirty="0"/>
              <a:t>то что </a:t>
            </a:r>
            <a:r>
              <a:rPr lang="en-US" dirty="0"/>
              <a:t>sim-</a:t>
            </a:r>
            <a:r>
              <a:rPr lang="ru-RU" dirty="0"/>
              <a:t>карте нужно для работы в интернет?</a:t>
            </a:r>
          </a:p>
          <a:p>
            <a:pPr marL="0" indent="0">
              <a:buNone/>
            </a:pPr>
            <a:r>
              <a:rPr lang="ru-RU" dirty="0"/>
              <a:t>(ответ сфотографировать)</a:t>
            </a:r>
          </a:p>
        </p:txBody>
      </p:sp>
    </p:spTree>
    <p:extLst>
      <p:ext uri="{BB962C8B-B14F-4D97-AF65-F5344CB8AC3E}">
        <p14:creationId xmlns:p14="http://schemas.microsoft.com/office/powerpoint/2010/main" val="3487620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8424F-4B89-3539-2038-2D4CC8AD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Как узнать адрес Вашего узла в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0F3CA-530A-4CF4-8490-819257506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ru-RU" dirty="0"/>
          </a:p>
          <a:p>
            <a:r>
              <a:rPr lang="ru-RU" dirty="0"/>
              <a:t>Спросить у </a:t>
            </a:r>
            <a:r>
              <a:rPr lang="ru-RU" dirty="0" err="1"/>
              <a:t>квена</a:t>
            </a:r>
            <a:r>
              <a:rPr lang="ru-RU" dirty="0"/>
              <a:t> – как узнать</a:t>
            </a:r>
          </a:p>
          <a:p>
            <a:pPr marL="0" indent="0">
              <a:buNone/>
            </a:pPr>
            <a:r>
              <a:rPr lang="en-US" dirty="0"/>
              <a:t>IP</a:t>
            </a:r>
            <a:r>
              <a:rPr lang="ru-RU" dirty="0"/>
              <a:t>-адрес моего смартфона</a:t>
            </a:r>
          </a:p>
          <a:p>
            <a:pPr marL="0" indent="0">
              <a:buNone/>
            </a:pPr>
            <a:r>
              <a:rPr lang="ru-RU" dirty="0"/>
              <a:t> в Интернет ? </a:t>
            </a:r>
          </a:p>
          <a:p>
            <a:r>
              <a:rPr lang="ru-RU" dirty="0"/>
              <a:t>В поликлинике – </a:t>
            </a:r>
            <a:r>
              <a:rPr lang="en-US" dirty="0" err="1"/>
              <a:t>ip-а</a:t>
            </a:r>
            <a:r>
              <a:rPr lang="ru-RU" dirty="0" err="1"/>
              <a:t>дреса</a:t>
            </a:r>
            <a:r>
              <a:rPr lang="ru-RU" dirty="0"/>
              <a:t> узлам</a:t>
            </a:r>
          </a:p>
          <a:p>
            <a:pPr marL="0" indent="0">
              <a:buNone/>
            </a:pPr>
            <a:r>
              <a:rPr lang="ru-RU" dirty="0"/>
              <a:t> сети выдает администратор </a:t>
            </a:r>
          </a:p>
          <a:p>
            <a:pPr marL="0" indent="0">
              <a:buNone/>
            </a:pPr>
            <a:r>
              <a:rPr lang="ru-RU" dirty="0"/>
              <a:t>(адрес принтера и </a:t>
            </a:r>
            <a:r>
              <a:rPr lang="ru-RU" dirty="0" err="1"/>
              <a:t>др</a:t>
            </a:r>
            <a:r>
              <a:rPr lang="en-US" dirty="0"/>
              <a:t>.)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Спроси к </a:t>
            </a:r>
            <a:r>
              <a:rPr lang="ru-RU" dirty="0" err="1"/>
              <a:t>квена</a:t>
            </a:r>
            <a:r>
              <a:rPr lang="ru-RU" dirty="0"/>
              <a:t> как узнать свой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 err="1"/>
              <a:t>ip</a:t>
            </a:r>
            <a:r>
              <a:rPr lang="en-US" dirty="0"/>
              <a:t>-</a:t>
            </a:r>
            <a:r>
              <a:rPr lang="ru-RU" dirty="0"/>
              <a:t>адрес на машине с астра линукс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В</a:t>
            </a:r>
            <a:r>
              <a:rPr lang="ru-RU" dirty="0" err="1"/>
              <a:t>ыполни</a:t>
            </a:r>
            <a:r>
              <a:rPr lang="ru-RU" dirty="0"/>
              <a:t> инструкции и сфоткай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D45C35-1BA0-4DBE-66FE-8352D7982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870" y="1687513"/>
            <a:ext cx="5993130" cy="503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50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48C87-726F-6FD2-21EE-0227F563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Пошли сообщение по сети соседу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F4DD79-5210-3514-B292-73A46DD32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Разбиваемся на группы по две машины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1-2, 3-4, 5-6, …, 21-22, 23-24</a:t>
            </a:r>
            <a:r>
              <a:rPr lang="ru-RU" dirty="0"/>
              <a:t>-25</a:t>
            </a:r>
          </a:p>
          <a:p>
            <a:r>
              <a:rPr lang="ru-RU" dirty="0"/>
              <a:t>Спроси у </a:t>
            </a:r>
            <a:r>
              <a:rPr lang="ru-RU" dirty="0" err="1"/>
              <a:t>квена</a:t>
            </a:r>
            <a:r>
              <a:rPr lang="ru-RU" dirty="0"/>
              <a:t> как послать сообщение по сети на соседнюю машину с астра линукс</a:t>
            </a:r>
            <a:r>
              <a:rPr lang="en-US" dirty="0"/>
              <a:t>. </a:t>
            </a:r>
            <a:r>
              <a:rPr lang="ru-RU" dirty="0"/>
              <a:t>Отправь соседу сообщение Привет с машины </a:t>
            </a:r>
            <a:r>
              <a:rPr lang="en-US" dirty="0"/>
              <a:t>&lt;</a:t>
            </a:r>
            <a:r>
              <a:rPr lang="ru-RU" dirty="0"/>
              <a:t>Номер машины</a:t>
            </a:r>
            <a:r>
              <a:rPr lang="en-US" dirty="0"/>
              <a:t>&gt;</a:t>
            </a:r>
            <a:endParaRPr lang="ru-RU" dirty="0"/>
          </a:p>
          <a:p>
            <a:r>
              <a:rPr lang="ru-RU" dirty="0"/>
              <a:t>Отправь сообщение сам себе</a:t>
            </a:r>
          </a:p>
          <a:p>
            <a:r>
              <a:rPr lang="ru-RU" dirty="0"/>
              <a:t>Отправь широковещательное сообщение по сети класса</a:t>
            </a:r>
          </a:p>
        </p:txBody>
      </p:sp>
    </p:spTree>
    <p:extLst>
      <p:ext uri="{BB962C8B-B14F-4D97-AF65-F5344CB8AC3E}">
        <p14:creationId xmlns:p14="http://schemas.microsoft.com/office/powerpoint/2010/main" val="40436779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10479</TotalTime>
  <Words>902</Words>
  <Application>Microsoft Office PowerPoint</Application>
  <PresentationFormat>Широкоэкранный</PresentationFormat>
  <Paragraphs>70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Inter var</vt:lpstr>
      <vt:lpstr>Тема Office</vt:lpstr>
      <vt:lpstr>Сеть. Интернет</vt:lpstr>
      <vt:lpstr>Цифровая грамотность</vt:lpstr>
      <vt:lpstr>Интернет не равно Всемирная паутина</vt:lpstr>
      <vt:lpstr>Пропускная способность</vt:lpstr>
      <vt:lpstr>Облако</vt:lpstr>
      <vt:lpstr>Стриминг</vt:lpstr>
      <vt:lpstr>Маршрутизация</vt:lpstr>
      <vt:lpstr>Маршрутизация в смартфон</vt:lpstr>
      <vt:lpstr>Как узнать адрес Вашего узла в сети</vt:lpstr>
      <vt:lpstr>Пошли сообщение по сети соседу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Сеть</dc:title>
  <dc:creator>Елена Демидова</dc:creator>
  <cp:lastModifiedBy>bogachiova.sofiia@hotmail.com</cp:lastModifiedBy>
  <cp:revision>61</cp:revision>
  <dcterms:created xsi:type="dcterms:W3CDTF">2025-10-26T17:58:23Z</dcterms:created>
  <dcterms:modified xsi:type="dcterms:W3CDTF">2025-12-22T18:03:15Z</dcterms:modified>
</cp:coreProperties>
</file>